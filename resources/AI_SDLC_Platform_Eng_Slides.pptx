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B1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– AI SDLC Platform Eng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2697480" cy="365760"/>
          </a:xfrm>
          <a:prstGeom prst="roundRect">
            <a:avLst>
              <a:gd name="adj" fmla="val 50000"/>
            </a:avLst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/ Capabilities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97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35+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3898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Inventory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10972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91640" y="13898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MVP2 Capabilities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0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Flight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23060" y="1115568"/>
            <a:ext cx="0" cy="621792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801368"/>
            <a:ext cx="248716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1965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Platform Services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2011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8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&amp; MCP Onboarding</a:t>
            </a:r>
            <a:endParaRPr lang="en-US" sz="800" dirty="0"/>
          </a:p>
          <a:p>
            <a:pPr marL="152400" indent="-152400">
              <a:buSzPct val="100000"/>
              <a:buChar char="•"/>
            </a:pPr>
            <a:r>
              <a:rPr lang="en-US" sz="8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Intake &amp; Entitlement</a:t>
            </a:r>
            <a:endParaRPr lang="en-US" sz="800" dirty="0"/>
          </a:p>
          <a:p>
            <a:pPr marL="152400" indent="-152400">
              <a:buSzPct val="100000"/>
              <a:buChar char="•"/>
            </a:pPr>
            <a:r>
              <a:rPr lang="en-US" sz="8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Orchestration</a:t>
            </a:r>
            <a:endParaRPr lang="en-US" sz="800" dirty="0"/>
          </a:p>
          <a:p>
            <a:pPr marL="152400" indent="-152400">
              <a:buSzPct val="100000"/>
              <a:buChar char="•"/>
            </a:pPr>
            <a:r>
              <a:rPr lang="en-US" sz="8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Chat Interface</a:t>
            </a:r>
            <a:endParaRPr lang="en-US" sz="800" dirty="0"/>
          </a:p>
          <a:p>
            <a:pPr marL="152400" indent="-152400">
              <a:buSzPct val="100000"/>
              <a:buChar char="•"/>
            </a:pPr>
            <a:r>
              <a:rPr lang="en-US" sz="8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GxP Compliance Controls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2724912"/>
            <a:ext cx="2697480" cy="365760"/>
          </a:xfrm>
          <a:prstGeom prst="roundRect">
            <a:avLst>
              <a:gd name="adj" fmla="val 50000"/>
            </a:avLst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2491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&amp; Solutions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136392"/>
            <a:ext cx="26974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36976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Bedrock AgentCore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352044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Runtime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691640" y="3236976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691640" y="352044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Orchestration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65760" y="374904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EKS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5760" y="4032504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Hosting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691640" y="374904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CloudWatch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691640" y="4032504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&amp; Metrics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65760" y="426110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API Marketplace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" y="454456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Access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74320" y="4901184"/>
            <a:ext cx="2697480" cy="365760"/>
          </a:xfrm>
          <a:prstGeom prst="roundRect">
            <a:avLst>
              <a:gd name="adj" fmla="val 50000"/>
            </a:avLst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011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5321808"/>
            <a:ext cx="2697480" cy="13075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5413248"/>
            <a:ext cx="1234440" cy="530352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5413248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 Employees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691640" y="5413248"/>
            <a:ext cx="1234440" cy="530352"/>
          </a:xfrm>
          <a:prstGeom prst="rect">
            <a:avLst/>
          </a:prstGeom>
          <a:solidFill>
            <a:srgbClr val="3B1E5F"/>
          </a:solidFill>
          <a:ln w="12700">
            <a:solidFill>
              <a:srgbClr val="3B1E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91640" y="5413248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 Contractors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5998464"/>
            <a:ext cx="1234440" cy="530352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5998464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 Sr. Managers;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 Managers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91640" y="5998464"/>
            <a:ext cx="1234440" cy="5303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91640" y="5998464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 Leads;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 Analysts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154680" y="6400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54680" y="640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Priorities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154680" y="1051560"/>
            <a:ext cx="873252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1097280"/>
            <a:ext cx="8458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MVP2, 11 capabilities, Aug to Dec 2026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the Second Party onboarding exception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MVP2 scope and ownership with Enterprise GenAI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the next agent wave through the 4 phase lifecycle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quality gates: Agent Scoring, EVALS, Red Team testing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Finalise the metric framework and dashboard schema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35+ agents across 4 verticals: ERP, Non-ERP, MLL, Data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ongoing programs including:</a:t>
            </a:r>
            <a:endParaRPr lang="en-US" sz="850" dirty="0"/>
          </a:p>
          <a:p>
            <a:pPr lvl="1" marL="304800" indent="-152400">
              <a:buSzPct val="100000"/>
              <a:buChar char="•"/>
            </a:pPr>
            <a:r>
              <a:rPr lang="en-US" sz="7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CR-CO Change &amp; Release Agent</a:t>
            </a:r>
            <a:endParaRPr lang="en-US" sz="850" dirty="0"/>
          </a:p>
          <a:p>
            <a:pPr lvl="1" marL="304800" indent="-152400">
              <a:buSzPct val="100000"/>
              <a:buChar char="•"/>
            </a:pPr>
            <a:r>
              <a:rPr lang="en-US" sz="7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SASA, 21 agents</a:t>
            </a:r>
            <a:endParaRPr lang="en-US" sz="850" dirty="0"/>
          </a:p>
          <a:p>
            <a:pPr lvl="1" marL="304800" indent="-152400">
              <a:buSzPct val="100000"/>
              <a:buChar char="•"/>
            </a:pPr>
            <a:r>
              <a:rPr lang="en-US" sz="7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AI Agent</a:t>
            </a:r>
            <a:endParaRPr lang="en-US" sz="850" dirty="0"/>
          </a:p>
          <a:p>
            <a:pPr lvl="1" marL="304800" indent="-152400">
              <a:buSzPct val="100000"/>
              <a:buChar char="•"/>
            </a:pPr>
            <a:r>
              <a:rPr lang="en-US" sz="7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SDLC Agent, AGT-001</a:t>
            </a:r>
            <a:endParaRPr lang="en-US" sz="850" dirty="0"/>
          </a:p>
          <a:p>
            <a:pPr lvl="1" marL="304800" indent="-152400">
              <a:buSzPct val="100000"/>
              <a:buChar char="•"/>
            </a:pPr>
            <a:r>
              <a:rPr lang="en-US" sz="7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family, AGT-016 to AGT-021</a:t>
            </a:r>
            <a:endParaRPr lang="en-US" sz="850" dirty="0"/>
          </a:p>
          <a:p>
            <a:pPr lvl="1" marL="304800" indent="-152400">
              <a:buSzPct val="100000"/>
              <a:buChar char="•"/>
            </a:pPr>
            <a:r>
              <a:rPr lang="en-US" sz="7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BTP Integration agents, AGT-013 to AGT-015</a:t>
            </a:r>
            <a:endParaRPr lang="en-US" sz="850" dirty="0"/>
          </a:p>
          <a:p>
            <a:pPr lvl="1" marL="304800" indent="-152400">
              <a:buSzPct val="100000"/>
              <a:buChar char="•"/>
            </a:pPr>
            <a:r>
              <a:rPr lang="en-US" sz="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Registry Integration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154680" y="2999232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54680" y="2999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Accomplishments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154680" y="3410712"/>
            <a:ext cx="87325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0" y="3456432"/>
            <a:ext cx="8458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Scale</a:t>
            </a:r>
            <a:endParaRPr lang="en-US" sz="800" dirty="0"/>
          </a:p>
          <a:p>
            <a:pPr lvl="1" marL="304800" indent="-152400">
              <a:buSzPct val="100000"/>
              <a:buChar char="•"/>
            </a:pPr>
            <a:r>
              <a:rPr lang="en-US" sz="7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agents running in production</a:t>
            </a:r>
            <a:endParaRPr lang="en-US" sz="800" dirty="0"/>
          </a:p>
          <a:p>
            <a:pPr lvl="1" marL="304800" indent="-152400">
              <a:buSzPct val="100000"/>
              <a:buChar char="•"/>
            </a:pPr>
            <a:r>
              <a:rPr lang="en-US" sz="7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MVP1 surfaces live: Chat, Setup, Monitoring, Dashboard</a:t>
            </a:r>
            <a:endParaRPr lang="en-US" sz="800" dirty="0"/>
          </a:p>
          <a:p>
            <a:pPr lvl="1" marL="304800" indent="-152400">
              <a:buSzPct val="100000"/>
              <a:buChar char="•"/>
            </a:pPr>
            <a:r>
              <a:rPr lang="en-US" sz="7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SDLC environments, DEV, QA and PROD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Excellence</a:t>
            </a:r>
            <a:endParaRPr lang="en-US" sz="800" dirty="0"/>
          </a:p>
          <a:p>
            <a:pPr lvl="1" marL="304800" indent="-152400">
              <a:buSzPct val="100000"/>
              <a:buChar char="•"/>
            </a:pPr>
            <a:r>
              <a:rPr lang="en-US" sz="7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GxP low risk designation, validated approach</a:t>
            </a:r>
            <a:endParaRPr lang="en-US" sz="800" dirty="0"/>
          </a:p>
          <a:p>
            <a:pPr lvl="1" marL="304800" indent="-152400">
              <a:buSzPct val="100000"/>
              <a:buChar char="•"/>
            </a:pPr>
            <a:r>
              <a:rPr lang="en-US" sz="7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phase lifecycle and 2 CR promotion model published</a:t>
            </a:r>
            <a:endParaRPr lang="en-US" sz="800" dirty="0"/>
          </a:p>
          <a:p>
            <a:pPr lvl="1" marL="304800" indent="-152400">
              <a:buSzPct val="100000"/>
              <a:buChar char="•"/>
            </a:pPr>
            <a:r>
              <a:rPr lang="en-US" sz="7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question technical intake set published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800" dirty="0"/>
          </a:p>
          <a:p>
            <a:pPr lvl="1" marL="304800" indent="-152400">
              <a:buSzPct val="100000"/>
              <a:buChar char="•"/>
            </a:pPr>
            <a:r>
              <a:rPr lang="en-US" sz="7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assessment and deployment architecture complete</a:t>
            </a:r>
            <a:endParaRPr lang="en-US" sz="800" dirty="0"/>
          </a:p>
          <a:p>
            <a:pPr lvl="1" marL="304800" indent="-152400">
              <a:buSzPct val="100000"/>
              <a:buChar char="•"/>
            </a:pPr>
            <a:r>
              <a:rPr lang="en-US" sz="7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 metric catalog drafted across 5 categories</a:t>
            </a:r>
            <a:endParaRPr lang="en-US" sz="800" dirty="0"/>
          </a:p>
          <a:p>
            <a:pPr lvl="1" marL="304800" indent="-152400">
              <a:buSzPct val="100000"/>
              <a:buChar char="•"/>
            </a:pPr>
            <a:r>
              <a:rPr lang="en-US" sz="7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block telemetry payload standardised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154680" y="4901184"/>
            <a:ext cx="1965960" cy="420624"/>
          </a:xfrm>
          <a:prstGeom prst="roundRect">
            <a:avLst>
              <a:gd name="adj" fmla="val 43478"/>
            </a:avLst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54680" y="4901184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Keeping You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at night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154680" y="5394960"/>
            <a:ext cx="1965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46120" y="5449824"/>
            <a:ext cx="1783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could reach production without being fully tested.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257800" y="4901184"/>
            <a:ext cx="3063240" cy="420624"/>
          </a:xfrm>
          <a:prstGeom prst="roundRect">
            <a:avLst>
              <a:gd name="adj" fmla="val 43478"/>
            </a:avLst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7800" y="4901184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Challenges &amp; Opportunities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257800" y="5394960"/>
            <a:ext cx="6629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76672" y="54498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532120" y="5669280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agents live, quality gates in MVP2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metrics blocked on ledger schema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of 11 features Enterprise owned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Contested capability ownership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549640" y="544982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705088" y="5669280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20+ additional agents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Temporal orchestration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registry reuse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realization dashboards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475720" y="6656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B1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Slides – AI SDLC Platform Eng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74320" y="65836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MVP2 release plan, cross service dependencies and 2027 direction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Release Plan / Schedule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553212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D50000"/>
          </a:solidFill>
          <a:ln w="12700">
            <a:solidFill>
              <a:srgbClr val="D5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83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8368" y="21945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Observability, Dev to PROD</a:t>
            </a:r>
            <a:endParaRPr lang="en-US" sz="9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FinOps, Dev to PROD</a:t>
            </a:r>
            <a:endParaRPr lang="en-US" sz="9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CopilotKit &amp; AG-UI Enhancements</a:t>
            </a:r>
            <a:endParaRPr lang="en-US" sz="9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Milestone: Telemetry &amp; FinOps live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08960" y="1783080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D50000"/>
          </a:solidFill>
          <a:ln w="12700">
            <a:solidFill>
              <a:srgbClr val="D5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783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18688" y="21945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orchestration, Drag &amp; Drop UI</a:t>
            </a:r>
            <a:endParaRPr lang="en-US" sz="9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+ EVALS gate</a:t>
            </a:r>
            <a:endParaRPr lang="en-US" sz="9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sign-off, Red Team studio</a:t>
            </a:r>
            <a:endParaRPr lang="en-US" sz="9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MVP2 complete, Dec 2026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234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Cross-Service Dependencies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645920"/>
            <a:ext cx="576072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828800"/>
            <a:ext cx="5349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GenAI platform, OTEL observability and FinOps APIs</a:t>
            </a:r>
            <a:endParaRPr lang="en-US" sz="9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agent, MCP and skills registry, gateway routing</a:t>
            </a:r>
            <a:endParaRPr lang="en-US" sz="9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AgentCore runtime, memory and system level evals</a:t>
            </a:r>
            <a:endParaRPr lang="en-US" sz="9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XENA CI/CD pipelines, ECR production path and scaffolding</a:t>
            </a:r>
            <a:endParaRPr lang="en-US" sz="9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ISRM and Technical Quality, security tooling and policy enforcement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79476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High-Level Forecast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206240"/>
            <a:ext cx="116128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3434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the AI SDLC Platform from a First Party agent host into the enterprise's end to end, GxP ready AI SDLC layer.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D50000"/>
          </a:solidFill>
          <a:ln w="12700">
            <a:solidFill>
              <a:srgbClr val="D5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800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" y="5193792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Party federated onboarding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realization dashboard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and L2 support tiers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MVP3 scope lock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83280" y="480060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D50000"/>
          </a:solidFill>
          <a:ln w="12700">
            <a:solidFill>
              <a:srgbClr val="D5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4800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93008" y="5193792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catalog discovery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 SDLC agents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 Gen and Code Review Agents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480060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D50000"/>
          </a:solidFill>
          <a:ln w="12700">
            <a:solidFill>
              <a:srgbClr val="D5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4800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2027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27648" y="5193792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Party integration pattern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workflow builder GA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052560" y="480060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D50000"/>
          </a:solidFill>
          <a:ln w="12700">
            <a:solidFill>
              <a:srgbClr val="D5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52560" y="4800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2027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162288" y="5193792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platform engineering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maturity assessment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1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J&amp;J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612880" y="6492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2026-08-24T20:22:59Z</dcterms:created>
  <dcterms:modified xsi:type="dcterms:W3CDTF">2026-08-24T20:22:59Z</dcterms:modified>
</cp:coreProperties>
</file>