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B1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– AI SDLC Platform Eng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40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/ Capabilities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972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35+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38988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4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Inventory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91640" y="10972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138988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MVP2 Capabilities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00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Flight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23060" y="1115568"/>
            <a:ext cx="0" cy="621792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801368"/>
            <a:ext cx="2487168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1965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Platform 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80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&amp; MCP Onboarding</a:t>
            </a:r>
            <a:endParaRPr lang="en-US" sz="800" dirty="0"/>
          </a:p>
          <a:p>
            <a:pPr marL="152400" indent="-152400">
              <a:buSzPct val="100000"/>
              <a:buChar char="•"/>
            </a:pPr>
            <a:r>
              <a:rPr lang="en-US" sz="80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Intake &amp; Entitlement</a:t>
            </a:r>
            <a:endParaRPr lang="en-US" sz="800" dirty="0"/>
          </a:p>
          <a:p>
            <a:pPr marL="152400" indent="-152400">
              <a:buSzPct val="100000"/>
              <a:buChar char="•"/>
            </a:pPr>
            <a:r>
              <a:rPr lang="en-US" sz="80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Orchestration</a:t>
            </a:r>
            <a:endParaRPr lang="en-US" sz="800" dirty="0"/>
          </a:p>
          <a:p>
            <a:pPr marL="152400" indent="-152400">
              <a:buSzPct val="100000"/>
              <a:buChar char="•"/>
            </a:pPr>
            <a:r>
              <a:rPr lang="en-US" sz="80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Chat Interface</a:t>
            </a:r>
            <a:endParaRPr lang="en-US" sz="800" dirty="0"/>
          </a:p>
          <a:p>
            <a:pPr marL="152400" indent="-152400">
              <a:buSzPct val="100000"/>
              <a:buChar char="•"/>
            </a:pPr>
            <a:r>
              <a:rPr lang="en-US" sz="800" b="1" dirty="0">
                <a:solidFill>
                  <a:srgbClr val="5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GxP Compliance Controls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2724912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724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&amp; Solutions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136392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17" name="Image 0" descr="logo-a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42900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65760" y="3721608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Bedrock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65760" y="3858768"/>
            <a:ext cx="12618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AgentCore Runtime</a:t>
            </a:r>
            <a:endParaRPr lang="en-US" sz="650" dirty="0"/>
          </a:p>
        </p:txBody>
      </p:sp>
      <p:pic>
        <p:nvPicPr>
          <p:cNvPr id="20" name="Image 1" descr="logo-tempor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34290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691640" y="3721608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691640" y="3858768"/>
            <a:ext cx="12618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Orchestration</a:t>
            </a:r>
            <a:endParaRPr lang="en-US" sz="650" dirty="0"/>
          </a:p>
        </p:txBody>
      </p:sp>
      <p:pic>
        <p:nvPicPr>
          <p:cNvPr id="23" name="Image 2" descr="logo-ot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087368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65760" y="437997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OpenTelemetry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365760" y="4517136"/>
            <a:ext cx="12618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Telemetry</a:t>
            </a:r>
            <a:endParaRPr lang="en-US" sz="650" dirty="0"/>
          </a:p>
        </p:txBody>
      </p:sp>
      <p:sp>
        <p:nvSpPr>
          <p:cNvPr id="26" name="Shape 21"/>
          <p:cNvSpPr/>
          <p:nvPr/>
        </p:nvSpPr>
        <p:spPr>
          <a:xfrm>
            <a:off x="274320" y="4901184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274320" y="49011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274320" y="5321808"/>
            <a:ext cx="2697480" cy="13075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65760" y="5413248"/>
            <a:ext cx="1234440" cy="530352"/>
          </a:xfrm>
          <a:prstGeom prst="rect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65760" y="5413248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Employees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1691640" y="5413248"/>
            <a:ext cx="1234440" cy="530352"/>
          </a:xfrm>
          <a:prstGeom prst="rect">
            <a:avLst/>
          </a:prstGeom>
          <a:solidFill>
            <a:srgbClr val="3B1E5F"/>
          </a:solidFill>
          <a:ln w="12700">
            <a:solidFill>
              <a:srgbClr val="3B1E5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691640" y="5413248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Contractors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365760" y="5998464"/>
            <a:ext cx="1234440" cy="53035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365760" y="599846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Sr. Managers;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Managers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691640" y="5998464"/>
            <a:ext cx="123444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691640" y="599846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Leads;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 Analysts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3154680" y="64008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154680" y="640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Priorities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3154680" y="1051560"/>
            <a:ext cx="87325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3291840" y="1097280"/>
            <a:ext cx="8458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MVP1 delivered, MVP2 build starts Sep 2026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MVP2, 11 capabilities, complete by Dec 2026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quality gates: Agent Scoring, EVALS, Red Team testing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and report platform value and ROI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MVP2 scope and ownership with Enterprise GenAI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35+ agents across 4 verticals: ERP, Non-ERP, MLL, Data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Demand: 11 agents in POC / Build</a:t>
            </a:r>
            <a:endParaRPr lang="en-US" sz="850" dirty="0"/>
          </a:p>
          <a:p>
            <a:pPr marL="152400" indent="-152400">
              <a:buSzPct val="100000"/>
              <a:buChar char="•"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ongoing programs including: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Solman CR-CO Change &amp; Release Agent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SASA, 21 agents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AI Agent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SDLC Agent, AGT-001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Automation family, AGT-016 to AGT-021</a:t>
            </a:r>
            <a:endParaRPr lang="en-US" sz="85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 Integration agents, AGT-013 to AGT-015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3154680" y="2999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3154680" y="2999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Accomplishments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3154680" y="3410712"/>
            <a:ext cx="8732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3291840" y="3456432"/>
            <a:ext cx="8458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Scale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AI agents live in production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verticals covered: ERP, Non-ERP, MLL, Data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MVP1 delivered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Assurance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onboarding governed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metric catalog drafted, 77 candidate metrics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Alignment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MVP2 scope aligned with Enterprise GenAI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agreed across 11 capabilities</a:t>
            </a:r>
            <a:endParaRPr lang="en-US" sz="800" dirty="0"/>
          </a:p>
          <a:p>
            <a:pPr lvl="1" marL="304800" indent="-152400">
              <a:buSzPct val="100000"/>
              <a:buChar char="•"/>
            </a:pPr>
            <a:r>
              <a:rPr lang="en-US" sz="7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assessment and financial summary delivered</a:t>
            </a:r>
            <a:endParaRPr lang="en-US" sz="800" dirty="0"/>
          </a:p>
        </p:txBody>
      </p:sp>
      <p:sp>
        <p:nvSpPr>
          <p:cNvPr id="45" name="Shape 40"/>
          <p:cNvSpPr/>
          <p:nvPr/>
        </p:nvSpPr>
        <p:spPr>
          <a:xfrm>
            <a:off x="3154680" y="4901184"/>
            <a:ext cx="1965960" cy="420624"/>
          </a:xfrm>
          <a:prstGeom prst="roundRect">
            <a:avLst>
              <a:gd name="adj" fmla="val 43478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154680" y="490118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Keeping You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at night</a:t>
            </a:r>
            <a:endParaRPr lang="en-US" sz="1200" dirty="0"/>
          </a:p>
        </p:txBody>
      </p:sp>
      <p:sp>
        <p:nvSpPr>
          <p:cNvPr id="47" name="Shape 42"/>
          <p:cNvSpPr/>
          <p:nvPr/>
        </p:nvSpPr>
        <p:spPr>
          <a:xfrm>
            <a:off x="3154680" y="5394960"/>
            <a:ext cx="19659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3246120" y="5449824"/>
            <a:ext cx="17830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could reach production without being fully tested.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257800" y="4901184"/>
            <a:ext cx="3063240" cy="420624"/>
          </a:xfrm>
          <a:prstGeom prst="roundRect">
            <a:avLst>
              <a:gd name="adj" fmla="val 43478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5257800" y="490118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Challenges &amp; Opportunities</a:t>
            </a:r>
            <a:endParaRPr lang="en-US" sz="1200" dirty="0"/>
          </a:p>
        </p:txBody>
      </p:sp>
      <p:sp>
        <p:nvSpPr>
          <p:cNvPr id="51" name="Shape 46"/>
          <p:cNvSpPr/>
          <p:nvPr/>
        </p:nvSpPr>
        <p:spPr>
          <a:xfrm>
            <a:off x="5257800" y="5394960"/>
            <a:ext cx="6629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5376672" y="54498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000" dirty="0"/>
          </a:p>
        </p:txBody>
      </p:sp>
      <p:sp>
        <p:nvSpPr>
          <p:cNvPr id="53" name="Text 48"/>
          <p:cNvSpPr/>
          <p:nvPr/>
        </p:nvSpPr>
        <p:spPr>
          <a:xfrm>
            <a:off x="5532120" y="56692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demand growth across 4 verticals</a:t>
            </a:r>
            <a:endParaRPr lang="en-US" sz="900" dirty="0"/>
          </a:p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of 11 MVP2 features Enterprise owned</a:t>
            </a:r>
            <a:endParaRPr lang="en-US" sz="900" dirty="0"/>
          </a:p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GxP assurance at agent scale</a:t>
            </a:r>
            <a:endParaRPr lang="en-US" sz="900" dirty="0"/>
          </a:p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security tooling decision pending</a:t>
            </a:r>
            <a:endParaRPr lang="en-US" sz="900" dirty="0"/>
          </a:p>
        </p:txBody>
      </p:sp>
      <p:sp>
        <p:nvSpPr>
          <p:cNvPr id="54" name="Text 49"/>
          <p:cNvSpPr/>
          <p:nvPr/>
        </p:nvSpPr>
        <p:spPr>
          <a:xfrm>
            <a:off x="8549640" y="544982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8705088" y="56692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20+ additional agents</a:t>
            </a:r>
            <a:endParaRPr lang="en-US" sz="900" dirty="0"/>
          </a:p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Temporal orchestration</a:t>
            </a:r>
            <a:endParaRPr lang="en-US" sz="900" dirty="0"/>
          </a:p>
          <a:p>
            <a:pPr marL="152400" indent="-152400"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UI and voice assistance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5376672" y="6355080"/>
            <a:ext cx="6355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are addressing: 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SDLC-owned quality gates land in MVP2, every capability has a named owner, and delivery is tracked on one timeline jointly with Enterprise.</a:t>
            </a:r>
            <a:endParaRPr lang="en-US" sz="900" dirty="0"/>
          </a:p>
        </p:txBody>
      </p:sp>
      <p:sp>
        <p:nvSpPr>
          <p:cNvPr id="57" name="Text 52"/>
          <p:cNvSpPr/>
          <p:nvPr/>
        </p:nvSpPr>
        <p:spPr>
          <a:xfrm>
            <a:off x="11475720" y="6656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B1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Slides – AI SDLC Platform Eng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74320" y="6583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MVP2 release plan, dependencies, agent portfolio and capability detail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34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Release Plan / Schedule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45920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83080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D50000"/>
          </a:solidFill>
          <a:ln w="12700">
            <a:solidFill>
              <a:srgbClr val="D5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83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219456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Observability, Dev to PROD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FinOps, Dev to PROD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CopilotKit &amp; AG-UI Enhancements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Milestone: Baseline telemetry live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08960" y="1783080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D50000"/>
          </a:solidFill>
          <a:ln w="12700">
            <a:solidFill>
              <a:srgbClr val="D5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783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18688" y="219456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orchestration, Drag &amp; Drop UI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+ EVALS gate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sign-off, Red Team studio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MVP2 complete, Dec 2026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Cross-Service Dependencies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645920"/>
            <a:ext cx="57607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828800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GenAI platform, OTEL observability and FinOps APIs</a:t>
            </a:r>
            <a:endParaRPr lang="en-US" sz="9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agent, MCP and skills registry, gateway routing</a:t>
            </a:r>
            <a:endParaRPr lang="en-US" sz="9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AgentCore runtime, memory and system level evals</a:t>
            </a:r>
            <a:endParaRPr lang="en-US" sz="9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XENA CI/CD pipelines and account scaffolding</a:t>
            </a:r>
            <a:endParaRPr lang="en-US" sz="9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ISRM and Technical Quality, security tooling and policy enforcement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79476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Portfolio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4206240"/>
            <a:ext cx="55321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4343400"/>
            <a:ext cx="1207008" cy="420624"/>
          </a:xfrm>
          <a:prstGeom prst="roundRect">
            <a:avLst>
              <a:gd name="adj" fmla="val 21739"/>
            </a:avLst>
          </a:prstGeom>
          <a:solidFill>
            <a:srgbClr val="F2F5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370832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458114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/ Live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709928" y="4343400"/>
            <a:ext cx="1207008" cy="420624"/>
          </a:xfrm>
          <a:prstGeom prst="roundRect">
            <a:avLst>
              <a:gd name="adj" fmla="val 21739"/>
            </a:avLst>
          </a:prstGeom>
          <a:solidFill>
            <a:srgbClr val="F2F5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9928" y="4370832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09928" y="458114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/ Expand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008376" y="4343400"/>
            <a:ext cx="1207008" cy="420624"/>
          </a:xfrm>
          <a:prstGeom prst="roundRect">
            <a:avLst>
              <a:gd name="adj" fmla="val 21739"/>
            </a:avLst>
          </a:prstGeom>
          <a:solidFill>
            <a:srgbClr val="F2F5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08376" y="4370832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008376" y="458114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/ Build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306824" y="4343400"/>
            <a:ext cx="1207008" cy="420624"/>
          </a:xfrm>
          <a:prstGeom prst="roundRect">
            <a:avLst>
              <a:gd name="adj" fmla="val 21739"/>
            </a:avLst>
          </a:prstGeom>
          <a:solidFill>
            <a:srgbClr val="F2F5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06824" y="4370832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306824" y="458114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02920" y="4937760"/>
            <a:ext cx="5166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SASA agents, Solman CR-CO and Jira AI Agent running in production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SDLC Agent, AGT-001, in pilot and expanding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automation family, AGT-016 to AGT-021, in POC and build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 Integration agents, AGT-013 to AGT-015, in discovery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agent teams present weekly at the Community of Practice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3794760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794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MVP2 Capabilities, 11 in Flight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26480" y="4206240"/>
            <a:ext cx="57607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43434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owned  (6)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46520" y="4572000"/>
            <a:ext cx="2697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Agent / MCP / Skills Registry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Framework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Core Enhancements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89720" y="434340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SDLC owned  (5)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326880" y="4572000"/>
            <a:ext cx="2514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CopilotKit / AG-UI Enhancements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&amp; Drop UI for Temporal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Scoring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AI Security Studio</a:t>
            </a:r>
            <a:endParaRPr lang="en-US" sz="9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Dashboard Enhancements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1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J&amp;J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612880" y="64922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2026-08-24T21:21:31Z</dcterms:created>
  <dcterms:modified xsi:type="dcterms:W3CDTF">2026-08-24T21:21:31Z</dcterms:modified>
</cp:coreProperties>
</file>